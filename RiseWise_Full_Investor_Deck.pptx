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78992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Slide 1: The Title Slide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789920" cy="4892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700"/>
              </a:spcAft>
              <a:defRPr sz="2300" b="1">
                <a:solidFill>
                  <a:srgbClr val="00E676"/>
                </a:solidFill>
                <a:latin typeface="Arial"/>
              </a:defRPr>
            </a:pPr>
            <a:r>
              <a:t>RiseWise</a:t>
            </a:r>
          </a:p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  <a:r>
              <a:t>Redefining the Piggy Bank for Gen Z and Gen Alpha in India</a:t>
            </a:r>
          </a:p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</a:p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  <a:r>
              <a:t>Core Pillars:</a:t>
            </a:r>
          </a:p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  <a:r>
              <a:t>• The Habit: Micro-savings that compound into massive wealth.</a:t>
            </a:r>
          </a:p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  <a:r>
              <a:t>• The Tech: Gamified learning modules, live quizzes, and streak metrics.</a:t>
            </a:r>
          </a:p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  <a:r>
              <a:t>• The Edge: Seamless progression from basic savings to advanced options.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78992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Slide 2: The Philosophy - The Digital Gullak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789920" cy="4892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  <a:r>
              <a:t>The Power of Everyday Micro-Savings</a:t>
            </a:r>
          </a:p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  <a:r>
              <a:t>The Concept: Modernizing the traditional clay piggy bank used by earlier generations.</a:t>
            </a:r>
          </a:p>
          <a:p>
            <a:pPr>
              <a:spcAft>
                <a:spcPts val="700"/>
              </a:spcAft>
              <a:defRPr sz="2300" b="1">
                <a:solidFill>
                  <a:srgbClr val="00E676"/>
                </a:solidFill>
                <a:latin typeface="Arial"/>
              </a:defRPr>
            </a:pPr>
            <a:r>
              <a:t>₹100/day -&gt; ₹2 Crore to ₹4 Crore</a:t>
            </a:r>
          </a:p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</a:p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  <a:r>
              <a:t>Compound Breakdown:</a:t>
            </a:r>
          </a:p>
          <a:p>
            <a:pPr>
              <a:spcAft>
                <a:spcPts val="700"/>
              </a:spcAft>
              <a:defRPr sz="2300" b="1">
                <a:solidFill>
                  <a:srgbClr val="00E676"/>
                </a:solidFill>
                <a:latin typeface="Arial"/>
              </a:defRPr>
            </a:pPr>
            <a:r>
              <a:t>• Skipping one premium tea or delivery can save ₹100 daily (₹3,000/month).</a:t>
            </a:r>
          </a:p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  <a:r>
              <a:t>• Invested from age 15 to late 40s across index funds and equity assets.</a:t>
            </a:r>
          </a:p>
          <a:p>
            <a:pPr>
              <a:spcAft>
                <a:spcPts val="700"/>
              </a:spcAft>
              <a:defRPr sz="2300" b="1">
                <a:solidFill>
                  <a:srgbClr val="00E676"/>
                </a:solidFill>
                <a:latin typeface="Arial"/>
              </a:defRPr>
            </a:pPr>
            <a:r>
              <a:t>• At 12% to 15% CAGR, this can compound into roughly ₹1.95 Crore to ₹4.46 Crore.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78992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Slide 3: The Engagement - Gamified Ecosystem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789920" cy="4892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  <a:r>
              <a:t>Built Like a Video Game, Not a Textbook</a:t>
            </a:r>
          </a:p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</a:p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  <a:r>
              <a:t>Daily Quizzes and Streaks:</a:t>
            </a:r>
          </a:p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  <a:r>
              <a:t>• Bite-sized 60-second finance challenges.</a:t>
            </a:r>
          </a:p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  <a:r>
              <a:t>• XP rewards and streak loops for daily retention.</a:t>
            </a:r>
          </a:p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</a:p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  <a:r>
              <a:t>Leaderboards and Social Competition:</a:t>
            </a:r>
          </a:p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  <a:r>
              <a:t>• Global and private portfolio leagues.</a:t>
            </a:r>
          </a:p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  <a:r>
              <a:t>• Badges and profile upgrades as users level up.</a:t>
            </a:r>
          </a:p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</a:p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  <a:r>
              <a:t>Risk-Free Simulations:</a:t>
            </a:r>
          </a:p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  <a:r>
              <a:t>• Virtual-currency simulations mapped to live Indian markets.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78992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Slide 4: Curriculum Evolution and Risk Profiles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789920" cy="4892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  <a:r>
              <a:t>A Curriculum That Grows With the User</a:t>
            </a:r>
          </a:p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</a:p>
          <a:p>
            <a:pPr>
              <a:spcAft>
                <a:spcPts val="700"/>
              </a:spcAft>
              <a:defRPr sz="2300" b="1">
                <a:solidFill>
                  <a:srgbClr val="00E676"/>
                </a:solidFill>
                <a:latin typeface="Arial"/>
              </a:defRPr>
            </a:pPr>
            <a:r>
              <a:t>Level 1: Foundational Free Tier</a:t>
            </a:r>
          </a:p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  <a:r>
              <a:t>• Micro-investing automation and inflation fundamentals.</a:t>
            </a:r>
          </a:p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  <a:r>
              <a:t>• Conservative risk profiles to preserve starter capital.</a:t>
            </a:r>
          </a:p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</a:p>
          <a:p>
            <a:pPr>
              <a:spcAft>
                <a:spcPts val="700"/>
              </a:spcAft>
              <a:defRPr sz="2300" b="1">
                <a:solidFill>
                  <a:srgbClr val="00E676"/>
                </a:solidFill>
                <a:latin typeface="Arial"/>
              </a:defRPr>
            </a:pPr>
            <a:r>
              <a:t>Level 99: Advanced Trader Mastery</a:t>
            </a:r>
          </a:p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  <a:r>
              <a:t>• Options mechanics and professional risk-hedging concepts.</a:t>
            </a:r>
          </a:p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  <a:r>
              <a:t>• Defined-risk vertical spreads (Bull Put and Bear Call).</a:t>
            </a:r>
          </a:p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  <a:r>
              <a:t>• Delta, theta, and probability-of-profit tracking.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78992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Slide 5: Monetisation Pillar 1 - B2B Partner Ecosystem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789920" cy="4892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  <a:r>
              <a:t>The Freemium Engine: Native Partner Placements</a:t>
            </a:r>
          </a:p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</a:p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  <a:r>
              <a:t>Highly Targeted Audience:</a:t>
            </a:r>
          </a:p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  <a:r>
              <a:t>• Connects Mutual Fund houses and SEBI-registered brokers to high-intent youth.</a:t>
            </a:r>
          </a:p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</a:p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  <a:r>
              <a:t>Subtle and Non-Intrusive:</a:t>
            </a:r>
          </a:p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  <a:r>
              <a:t>• No pop-ups, no disruptive banners, only contextual actions.</a:t>
            </a:r>
          </a:p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</a:p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  <a:r>
              <a:t>Contextual Integration:</a:t>
            </a:r>
          </a:p>
          <a:p>
            <a:pPr>
              <a:spcAft>
                <a:spcPts val="700"/>
              </a:spcAft>
              <a:defRPr sz="2300" b="1">
                <a:solidFill>
                  <a:srgbClr val="00E676"/>
                </a:solidFill>
                <a:latin typeface="Arial"/>
              </a:defRPr>
            </a:pPr>
            <a:r>
              <a:t>• Quiz mastery -&gt; native CTA to start an SIP with partner AMCs.</a:t>
            </a:r>
          </a:p>
          <a:p>
            <a:pPr>
              <a:spcAft>
                <a:spcPts val="700"/>
              </a:spcAft>
              <a:defRPr sz="2300" b="1">
                <a:solidFill>
                  <a:srgbClr val="00E676"/>
                </a:solidFill>
                <a:latin typeface="Arial"/>
              </a:defRPr>
            </a:pPr>
            <a:r>
              <a:t>• Advanced options mastery -&gt; seamless redirect to partner broker demat onboarding.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78992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Slide 6: Monetisation Pillar 2 - The Gold Tier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789920" cy="4892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700"/>
              </a:spcAft>
              <a:defRPr sz="2300" b="1">
                <a:solidFill>
                  <a:srgbClr val="00E676"/>
                </a:solidFill>
                <a:latin typeface="Arial"/>
              </a:defRPr>
            </a:pPr>
            <a:r>
              <a:t>The Gold Tier: Institutional Tools for Retail Traders</a:t>
            </a:r>
          </a:p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</a:p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  <a:r>
              <a:t>Value Proposition:</a:t>
            </a:r>
          </a:p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  <a:r>
              <a:t>• Paid layer for advanced users transitioning into active trading.</a:t>
            </a:r>
          </a:p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</a:p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  <a:r>
              <a:t>Premium Feature Suite:</a:t>
            </a:r>
          </a:p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  <a:r>
              <a:t>• Real-time bulk and block deal visibility with FII/DII activity mapping.</a:t>
            </a:r>
          </a:p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  <a:r>
              <a:t>• Momentum alerts for large-volume spikes and accumulation footprints.</a:t>
            </a:r>
          </a:p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  <a:r>
              <a:t>• Backtesting for multi-leg options strategies with premium data feeds.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78992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Slide 7: Competitive Landscape - Market Players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789920" cy="4892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  <a:r>
              <a:t>Feature Matrix (Condensed):</a:t>
            </a:r>
          </a:p>
          <a:p>
            <a:pPr>
              <a:spcAft>
                <a:spcPts val="700"/>
              </a:spcAft>
              <a:defRPr sz="2300" b="1">
                <a:solidFill>
                  <a:srgbClr val="00E676"/>
                </a:solidFill>
                <a:latin typeface="Arial"/>
              </a:defRPr>
            </a:pPr>
            <a:r>
              <a:t>• Primary Audience: RiseWise (Gen Z/Alpha) | Brokers (Working Professionals) | Kid Fintech (Ages 11-17) | Creators (Mass Audience)</a:t>
            </a:r>
          </a:p>
          <a:p>
            <a:pPr>
              <a:spcAft>
                <a:spcPts val="700"/>
              </a:spcAft>
              <a:defRPr sz="2300" b="1">
                <a:solidFill>
                  <a:srgbClr val="00E676"/>
                </a:solidFill>
                <a:latin typeface="Arial"/>
              </a:defRPr>
            </a:pPr>
            <a:r>
              <a:t>• Gamified XP Quizzes: RiseWise (Yes) | Others (No)</a:t>
            </a:r>
          </a:p>
          <a:p>
            <a:pPr>
              <a:spcAft>
                <a:spcPts val="700"/>
              </a:spcAft>
              <a:defRPr sz="2300" b="1">
                <a:solidFill>
                  <a:srgbClr val="00E676"/>
                </a:solidFill>
                <a:latin typeface="Arial"/>
              </a:defRPr>
            </a:pPr>
            <a:r>
              <a:t>• Risk-Free Derivatives Sandbox: RiseWise (Yes) | Others (No)</a:t>
            </a:r>
          </a:p>
          <a:p>
            <a:pPr>
              <a:spcAft>
                <a:spcPts val="700"/>
              </a:spcAft>
              <a:defRPr sz="2300" b="1">
                <a:solidFill>
                  <a:srgbClr val="00E676"/>
                </a:solidFill>
                <a:latin typeface="Arial"/>
              </a:defRPr>
            </a:pPr>
            <a:r>
              <a:t>• Institutional Bulk Data: RiseWise (Gold Tier) | Others (Limited/None)</a:t>
            </a:r>
          </a:p>
          <a:p>
            <a:pPr>
              <a:spcAft>
                <a:spcPts val="700"/>
              </a:spcAft>
              <a:defRPr sz="2300" b="1">
                <a:solidFill>
                  <a:srgbClr val="00E676"/>
                </a:solidFill>
                <a:latin typeface="Arial"/>
              </a:defRPr>
            </a:pPr>
            <a:r>
              <a:t>• Monetisation: RiseWise (Freemium + B2B Lead Gen) vs competitors' single-engine models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78992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Slide 8: Market Sizing - The Indian Youth TAM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789920" cy="4892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  <a:r>
              <a:t>Capturing India's Premium Youth Demographic</a:t>
            </a:r>
          </a:p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</a:p>
          <a:p>
            <a:pPr>
              <a:spcAft>
                <a:spcPts val="700"/>
              </a:spcAft>
              <a:defRPr sz="2300" b="1">
                <a:solidFill>
                  <a:srgbClr val="00E676"/>
                </a:solidFill>
                <a:latin typeface="Arial"/>
              </a:defRPr>
            </a:pPr>
            <a:r>
              <a:t>TAM: 110 Million+ Users</a:t>
            </a:r>
          </a:p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  <a:r>
              <a:t>• Derived from affluent, connected segments within India's Gen Z and Gen Alpha populations.</a:t>
            </a:r>
          </a:p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</a:p>
          <a:p>
            <a:pPr>
              <a:spcAft>
                <a:spcPts val="700"/>
              </a:spcAft>
              <a:defRPr sz="2300" b="1">
                <a:solidFill>
                  <a:srgbClr val="00E676"/>
                </a:solidFill>
                <a:latin typeface="Arial"/>
              </a:defRPr>
            </a:pPr>
            <a:r>
              <a:t>SAM: 45 Million Users</a:t>
            </a:r>
          </a:p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  <a:r>
              <a:t>• Smartphone-penetrated urban youth actively consuming fintech and gaming content.</a:t>
            </a:r>
          </a:p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</a:p>
          <a:p>
            <a:pPr>
              <a:spcAft>
                <a:spcPts val="700"/>
              </a:spcAft>
              <a:defRPr sz="2300" b="1">
                <a:solidFill>
                  <a:srgbClr val="00E676"/>
                </a:solidFill>
                <a:latin typeface="Arial"/>
              </a:defRPr>
            </a:pPr>
            <a:r>
              <a:t>SOM: 3.5 Million Users</a:t>
            </a:r>
          </a:p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  <a:r>
              <a:t>• Year 3 goal for high-intent users transitioning from savings to active trading behaviors.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78992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Slide 9: The Investment Ask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789920" cy="4892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700"/>
              </a:spcAft>
              <a:defRPr sz="2300" b="1">
                <a:solidFill>
                  <a:srgbClr val="00E676"/>
                </a:solidFill>
                <a:latin typeface="Arial"/>
              </a:defRPr>
            </a:pPr>
            <a:r>
              <a:t>Seeking $5 Million for a 20% Equity Stake</a:t>
            </a:r>
          </a:p>
          <a:p>
            <a:pPr>
              <a:spcAft>
                <a:spcPts val="700"/>
              </a:spcAft>
              <a:defRPr sz="2300" b="1">
                <a:solidFill>
                  <a:srgbClr val="00E676"/>
                </a:solidFill>
                <a:latin typeface="Arial"/>
              </a:defRPr>
            </a:pPr>
            <a:r>
              <a:t>Implied Post-Money Valuation: $25 Million (~₹208 Crore)</a:t>
            </a:r>
          </a:p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</a:p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  <a:r>
              <a:t>Capital Deployment:</a:t>
            </a:r>
          </a:p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  <a:r>
              <a:t>• 40% Product and Engineering: low-latency options data and risk engines.</a:t>
            </a:r>
          </a:p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  <a:r>
              <a:t>• 30% Gamification Pipeline: simulation leagues, adaptive quizzes, level systems.</a:t>
            </a:r>
          </a:p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  <a:r>
              <a:t>• 30% User Acquisition: targeted Tier-1 and Tier-2 campus growth campaigns.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78992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Slide 10: Founding Team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789920" cy="4892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  <a:r>
              <a:t>Founding Team Spotlight</a:t>
            </a:r>
          </a:p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</a:p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  <a:r>
              <a:t>Manoj Thakkar - CEO &amp; Founder</a:t>
            </a:r>
          </a:p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  <a:r>
              <a:t>LinkedIn: https://www.linkedin.com/in/manoj-thakkar-6583b46/</a:t>
            </a:r>
          </a:p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</a:p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  <a:r>
              <a:t>Nikunj Dewan - Co-Founder</a:t>
            </a:r>
          </a:p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  <a:r>
              <a:t>LinkedIn: https://www.linkedin.com/in/nikunjdewan/</a:t>
            </a:r>
          </a:p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</a:p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  <a:r>
              <a:t>Janya Goel - Co-Founder</a:t>
            </a:r>
          </a:p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  <a:r>
              <a:t>LinkedIn: https://www.linkedin.com/in/janyagoel/</a:t>
            </a:r>
          </a:p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</a:p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  <a:r>
              <a:t>Leadership Focus:</a:t>
            </a:r>
          </a:p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  <a:r>
              <a:t>• Product vision for India's youth-first wealth platform.</a:t>
            </a:r>
          </a:p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  <a:r>
              <a:t>• Execution across gamification, fintech partnerships, and growth.</a:t>
            </a:r>
          </a:p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  <a:r>
              <a:t>• Building a multi-disciplinary founding team with product and growth depth.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78992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Slide 11: Traction and 12-Month Projection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789920" cy="4892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  <a:r>
              <a:t>Current Stage: Early Beta Traction</a:t>
            </a:r>
          </a:p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  <a:r>
              <a:t>• Product status: Beta build completed.</a:t>
            </a:r>
          </a:p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  <a:r>
              <a:t>• Current customer base: 50 early customers.</a:t>
            </a:r>
          </a:p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</a:p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  <a:r>
              <a:t>12-Month Projection:</a:t>
            </a:r>
          </a:p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  <a:r>
              <a:t>• Target onboarding: 1 lakh (100,000) students.</a:t>
            </a:r>
          </a:p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  <a:r>
              <a:t>• Focus: campus-led acquisition, gamified retention loops, and referral growth.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