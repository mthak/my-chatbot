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Slide 1: The Title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4892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00E676"/>
                </a:solidFill>
                <a:latin typeface="Arial"/>
              </a:defRPr>
            </a:pPr>
            <a:r>
              <a:t>RiseWise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Redefining the Piggy Bank for Gen Z and Gen Alpha in India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Core Pillars: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• The Habit: Micro-savings that compound into massive wealth.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• The Tech: Gamified learning modules, live quizzes, and streak metrics.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• The Edge: Seamless progression from basic savings to advanced options.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Slide 2: The Philosophy - The Digital Gullak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4892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The Power of Everyday Micro-Savings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The Concept: Modernizing the traditional clay piggy bank used by earlier generations.</a:t>
            </a:r>
          </a:p>
          <a:p>
            <a:pPr>
              <a:spcAft>
                <a:spcPts val="700"/>
              </a:spcAft>
              <a:defRPr sz="2300" b="1">
                <a:solidFill>
                  <a:srgbClr val="00E676"/>
                </a:solidFill>
                <a:latin typeface="Arial"/>
              </a:defRPr>
            </a:pPr>
            <a:r>
              <a:t>₹100/day -&gt; ₹2 Crore to ₹4 Crore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Compound Breakdown:</a:t>
            </a:r>
          </a:p>
          <a:p>
            <a:pPr>
              <a:spcAft>
                <a:spcPts val="700"/>
              </a:spcAft>
              <a:defRPr sz="2300" b="1">
                <a:solidFill>
                  <a:srgbClr val="00E676"/>
                </a:solidFill>
                <a:latin typeface="Arial"/>
              </a:defRPr>
            </a:pPr>
            <a:r>
              <a:t>• Skipping one premium tea or delivery can save ₹100 daily (₹3,000/month).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• Invested from age 15 to late 40s across index funds and equity assets.</a:t>
            </a:r>
          </a:p>
          <a:p>
            <a:pPr>
              <a:spcAft>
                <a:spcPts val="700"/>
              </a:spcAft>
              <a:defRPr sz="2300" b="1">
                <a:solidFill>
                  <a:srgbClr val="00E676"/>
                </a:solidFill>
                <a:latin typeface="Arial"/>
              </a:defRPr>
            </a:pPr>
            <a:r>
              <a:t>• At 12% to 15% CAGR, this can compound into roughly ₹1.95 Crore to ₹4.46 Crore.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Slide 3: The Engagement - Gamified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4892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Built Like a Video Game, Not a Textbook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Daily Quizzes and Streaks: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• Bite-sized 60-second finance challenges.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• XP rewards and streak loops for daily retention.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Leaderboards and Social Competition: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• Global and private portfolio leagues.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• Badges and profile upgrades as users level up.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Risk-Free Simulations: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• Virtual-currency simulations mapped to live Indian markets.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Slide 4: Curriculum Evolution and Risk Profiles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4892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A Curriculum That Grows With the User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</a:p>
          <a:p>
            <a:pPr>
              <a:spcAft>
                <a:spcPts val="700"/>
              </a:spcAft>
              <a:defRPr sz="2300" b="1">
                <a:solidFill>
                  <a:srgbClr val="00E676"/>
                </a:solidFill>
                <a:latin typeface="Arial"/>
              </a:defRPr>
            </a:pPr>
            <a:r>
              <a:t>Level 1: Foundational Free Tier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• Micro-investing automation and inflation fundamentals.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• Conservative risk profiles to preserve starter capital.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</a:p>
          <a:p>
            <a:pPr>
              <a:spcAft>
                <a:spcPts val="700"/>
              </a:spcAft>
              <a:defRPr sz="2300" b="1">
                <a:solidFill>
                  <a:srgbClr val="00E676"/>
                </a:solidFill>
                <a:latin typeface="Arial"/>
              </a:defRPr>
            </a:pPr>
            <a:r>
              <a:t>Level 99: Advanced Trader Mastery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• Options mechanics and professional risk-hedging concepts.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• Defined-risk vertical spreads (Bull Put and Bear Call).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• Delta, theta, and probability-of-profit tracking.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Slide 5: Monetisation Pillar 1 - B2B Partner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4892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The Freemium Engine: Native Partner Placements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Highly Targeted Audience: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• Connects Mutual Fund houses and SEBI-registered brokers to high-intent youth.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Subtle and Non-Intrusive: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• No pop-ups, no disruptive banners, only contextual actions.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Contextual Integration:</a:t>
            </a:r>
          </a:p>
          <a:p>
            <a:pPr>
              <a:spcAft>
                <a:spcPts val="700"/>
              </a:spcAft>
              <a:defRPr sz="2300" b="1">
                <a:solidFill>
                  <a:srgbClr val="00E676"/>
                </a:solidFill>
                <a:latin typeface="Arial"/>
              </a:defRPr>
            </a:pPr>
            <a:r>
              <a:t>• Quiz mastery -&gt; native CTA to start an SIP with partner AMCs.</a:t>
            </a:r>
          </a:p>
          <a:p>
            <a:pPr>
              <a:spcAft>
                <a:spcPts val="700"/>
              </a:spcAft>
              <a:defRPr sz="2300" b="1">
                <a:solidFill>
                  <a:srgbClr val="00E676"/>
                </a:solidFill>
                <a:latin typeface="Arial"/>
              </a:defRPr>
            </a:pPr>
            <a:r>
              <a:t>• Advanced options mastery -&gt; seamless redirect to partner broker demat onboarding.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Slide 6: Monetisation Pillar 2 - The Gold Tier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4892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00E676"/>
                </a:solidFill>
                <a:latin typeface="Arial"/>
              </a:defRPr>
            </a:pPr>
            <a:r>
              <a:t>The Gold Tier: Institutional Tools for Retail Traders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Value Proposition: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• Paid layer for advanced users transitioning into active trading.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Premium Feature Suite: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• Real-time bulk and block deal visibility with FII/DII activity mapping.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• Momentum alerts for large-volume spikes and accumulation footprints.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• Backtesting for multi-leg options strategies with premium data feeds.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Slide 7: Competitive Landscape - Market Players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4892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Feature Matrix (Condensed):</a:t>
            </a:r>
          </a:p>
          <a:p>
            <a:pPr>
              <a:spcAft>
                <a:spcPts val="700"/>
              </a:spcAft>
              <a:defRPr sz="2300" b="1">
                <a:solidFill>
                  <a:srgbClr val="00E676"/>
                </a:solidFill>
                <a:latin typeface="Arial"/>
              </a:defRPr>
            </a:pPr>
            <a:r>
              <a:t>• Primary Audience: RiseWise (Gen Z/Alpha) | Brokers (Working Professionals) | Kid Fintech (Ages 11-17) | Creators (Mass Audience)</a:t>
            </a:r>
          </a:p>
          <a:p>
            <a:pPr>
              <a:spcAft>
                <a:spcPts val="700"/>
              </a:spcAft>
              <a:defRPr sz="2300" b="1">
                <a:solidFill>
                  <a:srgbClr val="00E676"/>
                </a:solidFill>
                <a:latin typeface="Arial"/>
              </a:defRPr>
            </a:pPr>
            <a:r>
              <a:t>• Gamified XP Quizzes: RiseWise (Yes) | Others (No)</a:t>
            </a:r>
          </a:p>
          <a:p>
            <a:pPr>
              <a:spcAft>
                <a:spcPts val="700"/>
              </a:spcAft>
              <a:defRPr sz="2300" b="1">
                <a:solidFill>
                  <a:srgbClr val="00E676"/>
                </a:solidFill>
                <a:latin typeface="Arial"/>
              </a:defRPr>
            </a:pPr>
            <a:r>
              <a:t>• Risk-Free Derivatives Sandbox: RiseWise (Yes) | Others (No)</a:t>
            </a:r>
          </a:p>
          <a:p>
            <a:pPr>
              <a:spcAft>
                <a:spcPts val="700"/>
              </a:spcAft>
              <a:defRPr sz="2300" b="1">
                <a:solidFill>
                  <a:srgbClr val="00E676"/>
                </a:solidFill>
                <a:latin typeface="Arial"/>
              </a:defRPr>
            </a:pPr>
            <a:r>
              <a:t>• Institutional Bulk Data: RiseWise (Gold Tier) | Others (Limited/None)</a:t>
            </a:r>
          </a:p>
          <a:p>
            <a:pPr>
              <a:spcAft>
                <a:spcPts val="700"/>
              </a:spcAft>
              <a:defRPr sz="2300" b="1">
                <a:solidFill>
                  <a:srgbClr val="00E676"/>
                </a:solidFill>
                <a:latin typeface="Arial"/>
              </a:defRPr>
            </a:pPr>
            <a:r>
              <a:t>• Monetisation: RiseWise (Freemium + B2B Lead Gen) vs competitors' single-engine models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Slide 8: Market Sizing - The Indian Youth TAM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4892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Capturing India's Premium Youth Demographic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</a:p>
          <a:p>
            <a:pPr>
              <a:spcAft>
                <a:spcPts val="700"/>
              </a:spcAft>
              <a:defRPr sz="2300" b="1">
                <a:solidFill>
                  <a:srgbClr val="00E676"/>
                </a:solidFill>
                <a:latin typeface="Arial"/>
              </a:defRPr>
            </a:pPr>
            <a:r>
              <a:t>TAM: 110 Million+ Users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• Derived from affluent, connected segments within India's Gen Z and Gen Alpha populations.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</a:p>
          <a:p>
            <a:pPr>
              <a:spcAft>
                <a:spcPts val="700"/>
              </a:spcAft>
              <a:defRPr sz="2300" b="1">
                <a:solidFill>
                  <a:srgbClr val="00E676"/>
                </a:solidFill>
                <a:latin typeface="Arial"/>
              </a:defRPr>
            </a:pPr>
            <a:r>
              <a:t>SAM: 45 Million Users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• Smartphone-penetrated urban youth actively consuming fintech and gaming content.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</a:p>
          <a:p>
            <a:pPr>
              <a:spcAft>
                <a:spcPts val="700"/>
              </a:spcAft>
              <a:defRPr sz="2300" b="1">
                <a:solidFill>
                  <a:srgbClr val="00E676"/>
                </a:solidFill>
                <a:latin typeface="Arial"/>
              </a:defRPr>
            </a:pPr>
            <a:r>
              <a:t>SOM: 3.5 Million Users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• Year 3 goal for high-intent users transitioning from savings to active trading behaviors.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Slide 9: The Investment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4892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00E676"/>
                </a:solidFill>
                <a:latin typeface="Arial"/>
              </a:defRPr>
            </a:pPr>
            <a:r>
              <a:t>Seeking $5 Million for a 20% Equity Stake</a:t>
            </a:r>
          </a:p>
          <a:p>
            <a:pPr>
              <a:spcAft>
                <a:spcPts val="700"/>
              </a:spcAft>
              <a:defRPr sz="2300" b="1">
                <a:solidFill>
                  <a:srgbClr val="00E676"/>
                </a:solidFill>
                <a:latin typeface="Arial"/>
              </a:defRPr>
            </a:pPr>
            <a:r>
              <a:t>Implied Post-Money Valuation: $25 Million (~₹208 Crore)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Capital Deployment: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• 40% Product and Engineering: low-latency options data and risk engines.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• 30% Gamification Pipeline: simulation leagues, adaptive quizzes, level systems.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• 30% User Acquisition: targeted Tier-1 and Tier-2 campus growth campaigns.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Slide 10: Founding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4892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Founding Team Spotlight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Manoj Thakkar - CEO &amp; Founder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LinkedIn: https://www.linkedin.com/in/manoj-thakkar-6583b46/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Nikunj Dewan - Co-Founder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LinkedIn: https://www.linkedin.com/in/nikunjdewan/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Janya Goel - Co-Founder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LinkedIn: https://www.linkedin.com/in/janyagoel/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Leadership Focus: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• Product vision for India's youth-first wealth platform.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• Execution across gamification, fintech partnerships, and growth.</a:t>
            </a:r>
          </a:p>
          <a:p>
            <a:pPr>
              <a:spcAft>
                <a:spcPts val="700"/>
              </a:spcAft>
              <a:defRPr sz="1700">
                <a:solidFill>
                  <a:srgbClr val="B4B9C3"/>
                </a:solidFill>
                <a:latin typeface="Arial"/>
              </a:defRPr>
            </a:pPr>
            <a:r>
              <a:t>• Building a multi-disciplinary founding team with product and growth depth.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